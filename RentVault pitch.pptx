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itchFamily="2" charset="0"/>
      <p:regular r:id="rId15"/>
    </p:embeddedFont>
    <p:embeddedFont>
      <p:font typeface="Roboto Slab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736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9332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RentVault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48917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Rent without the gamble.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484290"/>
            <a:ext cx="25836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i="1" dirty="0">
                <a:solidFill>
                  <a:srgbClr val="F9D933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Nomba Hackathon </a:t>
            </a:r>
            <a:endParaRPr lang="en-US" sz="16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DBCA31-DA93-18D0-1111-F3D925DCDE19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9605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516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Nigeria's rental market runs on trust — because there is no system to verify it. Tenants pay one or two years' rent upfront, often their entire savings, in a single bank transfer. Once paid, there is no mechanism to reverse the transaction if the recipient is fraudulent.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18370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D4D4D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Fake Agents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766640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Listing properties they do not control, collecting payments and disappearing.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18370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D4D4D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Double Deposits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766640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Landlords collecting rent from multiple tenants for the same apartment.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730600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8723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D4D4D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Omo-Onile Disputes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41788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Ownership conflicts that emerge only after payment has been made.</a:t>
            </a:r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38D803-E705-B281-8A9F-380F84F03FBE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487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Solution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17910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is a Nomba-powered rent escrow platform that replaces </a:t>
            </a:r>
            <a:r>
              <a:rPr 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assumed trust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9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verified trust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Funds remain protected until ownership or tenancy has been verified — tenant protection is enforced by the payment infrastructure itself.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526307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6361" y="3738606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Deliver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456" y="3738606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4702" y="3738606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0341" y="3738606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554066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transition is driven by Nomba webhooks, creating a fully auditable transaction lifecycle without manual intervention.</a:t>
            </a:r>
            <a:endParaRPr lang="en-US" sz="9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576325-9019-1105-8AED-89577B886D7D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1507331"/>
            <a:ext cx="2128838" cy="21288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18356"/>
            <a:ext cx="504616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Why Nomba Is Core to RentVault</a:t>
            </a:r>
            <a:endParaRPr lang="en-US" sz="2300" dirty="0"/>
          </a:p>
        </p:txBody>
      </p:sp>
      <p:sp>
        <p:nvSpPr>
          <p:cNvPr id="5" name="Text 1"/>
          <p:cNvSpPr/>
          <p:nvPr/>
        </p:nvSpPr>
        <p:spPr>
          <a:xfrm>
            <a:off x="3925119" y="930994"/>
            <a:ext cx="4722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is built </a:t>
            </a:r>
            <a:r>
              <a:rPr lang="en-US" sz="9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around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Nomba — not merely integrated with it. Remove any one of these services and the escrow workflow breaks.</a:t>
            </a:r>
            <a:endParaRPr lang="en-US" sz="9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383655"/>
            <a:ext cx="4722763" cy="67664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13907" y="1515294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E98F1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Checkout API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4113907" y="1756990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Securely collects and holds tenant payments in a tracked escrow state.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157487"/>
            <a:ext cx="4722763" cy="848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13907" y="228912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E98F1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Transfers API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4113907" y="2530822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splits escrowed funds between landlords, agents, and RentVault after verification.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102992"/>
            <a:ext cx="4722763" cy="67664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13907" y="323463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E98F1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Refunds API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4113907" y="3476327"/>
            <a:ext cx="440233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Guarantees automatic repayment whenever verification fails or expires.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876824"/>
            <a:ext cx="4722763" cy="848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113907" y="400846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5E98F1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Webhooks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4113907" y="4250159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Synchronizes every payment event with RentVault's engine in real time, ensuring a complete audit trail.</a:t>
            </a:r>
            <a:endParaRPr lang="en-US" sz="9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CAEA038-0FED-67E0-73CF-02CF407BA11C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084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What's Built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735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is a working product — not a prototype concept.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73635"/>
            <a:ext cx="838200" cy="51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868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D7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Tenant App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175322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Vite. Browse listings, complete escrow checkout, and track transaction status in real time.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73635"/>
            <a:ext cx="838200" cy="517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2868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D7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Landlord Dashboard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17532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14. Manage listings, connect Nomba account, and submit ownership verification.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73635"/>
            <a:ext cx="838200" cy="5179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2868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D7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14. Review verification requests, configure payment splits, and view complete audit logs.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73635"/>
            <a:ext cx="838200" cy="5179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28688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D7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Backend + Data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175322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Firebase Cloud Functions, Firestore, Storage, and role-based Authentication for all user types.</a:t>
            </a:r>
            <a:endParaRPr lang="en-US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C36243-0F62-F537-9D7C-E0CA422CA451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1273"/>
            <a:ext cx="40795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Example Transaction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436861"/>
            <a:ext cx="3682231" cy="2925366"/>
          </a:xfrm>
          <a:prstGeom prst="roundRect">
            <a:avLst>
              <a:gd name="adj" fmla="val 727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78620"/>
            <a:ext cx="23063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₦2,000,000 Apartment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41835"/>
            <a:ext cx="339871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tenant rents an apartment for ₦2,000,000. Payment enters escrow through Nomba Checkout.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verification fails or expires, the tenant automatically receives the full ₦2,000,000 via Nomba Refunds.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24796" y="1578620"/>
            <a:ext cx="35691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After Verification — Auto-Distributed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4796" y="1959546"/>
            <a:ext cx="2092970" cy="873547"/>
          </a:xfrm>
          <a:prstGeom prst="roundRect">
            <a:avLst>
              <a:gd name="adj" fmla="val 2434"/>
            </a:avLst>
          </a:prstGeom>
          <a:solidFill>
            <a:srgbClr val="FFD700"/>
          </a:solidFill>
          <a:ln/>
        </p:spPr>
      </p:sp>
      <p:sp>
        <p:nvSpPr>
          <p:cNvPr id="8" name="Text 6"/>
          <p:cNvSpPr/>
          <p:nvPr/>
        </p:nvSpPr>
        <p:spPr>
          <a:xfrm>
            <a:off x="4466555" y="21013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₦1,900,000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66555" y="2464519"/>
            <a:ext cx="180945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Landlord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59525" y="1959546"/>
            <a:ext cx="2093044" cy="873547"/>
          </a:xfrm>
          <a:prstGeom prst="roundRect">
            <a:avLst>
              <a:gd name="adj" fmla="val 2434"/>
            </a:avLst>
          </a:prstGeom>
          <a:solidFill>
            <a:srgbClr val="3257B8"/>
          </a:solidFill>
          <a:ln/>
        </p:spPr>
      </p:sp>
      <p:sp>
        <p:nvSpPr>
          <p:cNvPr id="11" name="Text 9"/>
          <p:cNvSpPr/>
          <p:nvPr/>
        </p:nvSpPr>
        <p:spPr>
          <a:xfrm>
            <a:off x="6701284" y="21013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₦80,000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01284" y="2464519"/>
            <a:ext cx="180952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4796" y="2974851"/>
            <a:ext cx="4327773" cy="873547"/>
          </a:xfrm>
          <a:prstGeom prst="roundRect">
            <a:avLst>
              <a:gd name="adj" fmla="val 2434"/>
            </a:avLst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66555" y="31166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₦20,000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66555" y="3479825"/>
            <a:ext cx="40442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Fee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24796" y="4007867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manual settlement. No refund requests. Fully automated.</a:t>
            </a:r>
            <a:endParaRPr lang="en-US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D5D96C-A0FD-8C8F-0A17-7B17F7D30A88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9525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Business Model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50838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earns a small platform fee on every successfully completed rental transaction. Payment distribution is handled automatically through Nomba Transfers — landlords, agents, and RentVault are all paid in a single settlement process.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2421954"/>
            <a:ext cx="212601" cy="212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816" y="24175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995515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Core Revenue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56816" y="2724076"/>
            <a:ext cx="18120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fee on every completed escrow transaction.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9184" y="2421954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06750" y="24175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995515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Premium Services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406750" y="2724076"/>
            <a:ext cx="181213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landlord verification and fraud-risk scoring.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692426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6816" y="36880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995515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Enterprise Tools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956816" y="399454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Property management company integrations and bulk transaction tools.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2846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98365"/>
            <a:ext cx="3986733" cy="29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Nigeria's rental market is large, largely informal, and increasingly digital in how payments are made — yet trust infrastructure has not evolved alongside digital payments.</a:t>
            </a:r>
            <a:endParaRPr lang="en-US" sz="5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fills this gap by transforming rent payments from </a:t>
            </a:r>
            <a:r>
              <a:rPr lang="en-US" sz="5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trust-based</a:t>
            </a: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5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verification-based</a:t>
            </a: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transactions.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740223"/>
            <a:ext cx="3986733" cy="281285"/>
          </a:xfrm>
          <a:prstGeom prst="roundRect">
            <a:avLst>
              <a:gd name="adj" fmla="val 3898"/>
            </a:avLst>
          </a:prstGeom>
          <a:solidFill>
            <a:srgbClr val="D7DFF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3" y="2834208"/>
            <a:ext cx="91306" cy="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574" y="2792313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escrow model extends to commercial leases, short-let bookings, student accommodation, and any transaction where payment should only be released after conditions are met.</a:t>
            </a:r>
            <a:endParaRPr lang="en-US" sz="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0E1061-7B9A-1204-D841-1F1432B1520A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74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What's Next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4524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RentVault is already functional end-to-end using Nomba's sandbox environment. The next phase focuses on real-world validation and deeper integrations.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62475" y="1858342"/>
            <a:ext cx="19050" cy="2766417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4006304" y="2008287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4412531" y="185834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4465700" y="188490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15988" y="1907009"/>
            <a:ext cx="21472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910D0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Land Registry Integration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213521"/>
            <a:ext cx="33670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verification by connecting to land registry data where available.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12419" y="2858839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1" name="Shape 9"/>
          <p:cNvSpPr/>
          <p:nvPr/>
        </p:nvSpPr>
        <p:spPr>
          <a:xfrm>
            <a:off x="4412531" y="270889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4465700" y="273546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280794" y="2757562"/>
            <a:ext cx="20400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910D0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Complex Payment Splits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80794" y="3064073"/>
            <a:ext cx="33670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multi-agent transactions and more sophisticated distribution rules.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06304" y="3591967"/>
            <a:ext cx="425276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2531" y="344202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7" name="Text 15"/>
          <p:cNvSpPr/>
          <p:nvPr/>
        </p:nvSpPr>
        <p:spPr>
          <a:xfrm>
            <a:off x="4465700" y="346858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091184" y="3490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dirty="0">
                <a:solidFill>
                  <a:srgbClr val="910D0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Lagos Pilot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3797201"/>
            <a:ext cx="336708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with real landlords and tenants to validate verification turnaround times under real operating conditions.</a:t>
            </a:r>
            <a:endParaRPr lang="en-US" sz="11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CF0E55-7474-BF1E-0CDD-6B081A4D2EAD}"/>
              </a:ext>
            </a:extLst>
          </p:cNvPr>
          <p:cNvSpPr/>
          <p:nvPr/>
        </p:nvSpPr>
        <p:spPr>
          <a:xfrm>
            <a:off x="8022077" y="4863830"/>
            <a:ext cx="1044102" cy="214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41139"/>
            <a:ext cx="46921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257B8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Rent Without the Gamble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96727"/>
            <a:ext cx="19050" cy="999381"/>
          </a:xfrm>
          <a:prstGeom prst="roundRect">
            <a:avLst>
              <a:gd name="adj" fmla="val 60000"/>
            </a:avLst>
          </a:prstGeom>
          <a:solidFill>
            <a:srgbClr val="3257B8"/>
          </a:solidFill>
          <a:ln/>
        </p:spPr>
      </p:sp>
      <p:sp>
        <p:nvSpPr>
          <p:cNvPr id="5" name="Text 2"/>
          <p:cNvSpPr/>
          <p:nvPr/>
        </p:nvSpPr>
        <p:spPr>
          <a:xfrm>
            <a:off x="708720" y="1356196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years, the advice given to renters in Nigeria has been the same: inspect the property, verify the landlord, and be careful who you pay. RentVault changes the system itself.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35557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asking tenants to trust first and verify later, RentVault ensures that money moves </a:t>
            </a: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only after trust has been proven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968675"/>
            <a:ext cx="4722763" cy="1633686"/>
          </a:xfrm>
          <a:prstGeom prst="roundRect">
            <a:avLst>
              <a:gd name="adj" fmla="val 1302"/>
            </a:avLst>
          </a:prstGeom>
          <a:solidFill>
            <a:srgbClr val="E9ECF2"/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2968675"/>
            <a:ext cx="4722763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637877" y="31104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CC97B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Built on Nomba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877" y="341694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Powered by Checkout, Transfers, Refunds, and Webhooks.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785518"/>
            <a:ext cx="4722763" cy="8168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2" name="Shape 9"/>
          <p:cNvSpPr/>
          <p:nvPr/>
        </p:nvSpPr>
        <p:spPr>
          <a:xfrm>
            <a:off x="496119" y="3785518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</p:sp>
      <p:sp>
        <p:nvSpPr>
          <p:cNvPr id="13" name="Text 10"/>
          <p:cNvSpPr/>
          <p:nvPr/>
        </p:nvSpPr>
        <p:spPr>
          <a:xfrm>
            <a:off x="637877" y="3927277"/>
            <a:ext cx="20413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CC97B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Powered by Verification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7877" y="423378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 protection enforced by payment infrastructure.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On-screen Show (16:9)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Slab Bold</vt:lpstr>
      <vt:lpstr>Arial</vt:lpstr>
      <vt:lpstr>Roboto Bold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Chips</dc:creator>
  <cp:lastModifiedBy>Chibueze Emmanuel Amechi</cp:lastModifiedBy>
  <cp:revision>2</cp:revision>
  <dcterms:created xsi:type="dcterms:W3CDTF">2026-06-30T12:28:27Z</dcterms:created>
  <dcterms:modified xsi:type="dcterms:W3CDTF">2026-06-30T12:35:26Z</dcterms:modified>
</cp:coreProperties>
</file>